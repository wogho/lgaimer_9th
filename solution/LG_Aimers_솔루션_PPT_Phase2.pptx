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137160"/>
            <a:ext cx="4663440" cy="7132320"/>
          </a:xfrm>
          <a:prstGeom prst="rect">
            <a:avLst/>
          </a:prstGeom>
          <a:solidFill>
            <a:srgbClr val="10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56448" y="420624"/>
            <a:ext cx="3337560" cy="3337560"/>
          </a:xfrm>
          <a:prstGeom prst="rect">
            <a:avLst/>
          </a:prstGeom>
          <a:solidFill>
            <a:srgbClr val="0B1020"/>
          </a:solidFill>
          <a:ln w="1778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732520" y="969264"/>
            <a:ext cx="2194560" cy="2194560"/>
          </a:xfrm>
          <a:prstGeom prst="diamond">
            <a:avLst/>
          </a:prstGeom>
          <a:noFill/>
          <a:ln w="29209">
            <a:solidFill>
              <a:srgbClr val="166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56648" y="841248"/>
            <a:ext cx="237744" cy="237744"/>
          </a:xfrm>
          <a:prstGeom prst="ellipse">
            <a:avLst/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17352" y="1883664"/>
            <a:ext cx="237744" cy="237744"/>
          </a:xfrm>
          <a:prstGeom prst="ellipse">
            <a:avLst/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56648" y="2926080"/>
            <a:ext cx="237744" cy="237744"/>
          </a:xfrm>
          <a:prstGeom prst="ellipse">
            <a:avLst/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05088" y="1883664"/>
            <a:ext cx="237744" cy="237744"/>
          </a:xfrm>
          <a:prstGeom prst="ellipse">
            <a:avLst/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0" y="4242816"/>
            <a:ext cx="960120" cy="960120"/>
          </a:xfrm>
          <a:prstGeom prst="ellipse">
            <a:avLst/>
          </a:prstGeom>
          <a:solidFill>
            <a:srgbClr val="F5F7FB"/>
          </a:solidFill>
          <a:ln>
            <a:solidFill>
              <a:srgbClr val="C8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646920" y="4370832"/>
            <a:ext cx="466344" cy="704088"/>
          </a:xfrm>
          <a:prstGeom prst="line">
            <a:avLst/>
          </a:prstGeom>
          <a:ln w="1778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20072" y="4389120"/>
            <a:ext cx="448056" cy="676656"/>
          </a:xfrm>
          <a:prstGeom prst="line">
            <a:avLst/>
          </a:prstGeom>
          <a:ln w="1778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" y="521207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530352"/>
            <a:ext cx="1874519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LG AIMERS ·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234440"/>
            <a:ext cx="681228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B"/>
                </a:solidFill>
                <a:latin typeface="Noto Sans CJK KR"/>
              </a:rPr>
              <a:t>투구 직전 정보로</a:t>
            </a:r>
            <a:br/>
            <a:r>
              <a:rPr sz="3600" b="1">
                <a:solidFill>
                  <a:srgbClr val="F5F7FB"/>
                </a:solidFill>
                <a:latin typeface="Noto Sans CJK KR"/>
              </a:rPr>
              <a:t>제구 성공 확률을 읽다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090672"/>
            <a:ext cx="672084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EB8CC"/>
                </a:solidFill>
                <a:latin typeface="Noto Sans CJK KR"/>
              </a:rPr>
              <a:t>시간 순 검증과 행 독립 피처 엔지니어링을 기반으로 한</a:t>
            </a:r>
            <a:br/>
            <a:r>
              <a:rPr sz="1700" b="0">
                <a:solidFill>
                  <a:srgbClr val="AEB8CC"/>
                </a:solidFill>
                <a:latin typeface="Noto Sans CJK KR"/>
              </a:rPr>
              <a:t>73개 피처 CatBoost 확률 모델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60520"/>
            <a:ext cx="6355080" cy="36576"/>
          </a:xfrm>
          <a:prstGeom prst="rect">
            <a:avLst/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99432"/>
            <a:ext cx="6035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제출자  김재호   |   팀명  나란차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120640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C"/>
                </a:solidFill>
                <a:latin typeface="Noto Sans CJK KR"/>
              </a:rPr>
              <a:t>최종 학습: 2019–2024  ·  예측 대상: 2025  ·  81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60720"/>
            <a:ext cx="6492240" cy="56692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925312"/>
            <a:ext cx="6053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Noto Sans CJK KR"/>
              </a:rPr>
              <a:t>Phase 3 오프라인 해커톤 참가 여부  |  아니요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6108192"/>
            <a:ext cx="30449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4809A"/>
                </a:solidFill>
                <a:latin typeface="Noto Sans CJK KR"/>
              </a:rPr>
              <a:t>SOLUTION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확률을 맞히는 문제 — 순위보다 ‘잘 보정된 확률’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" y="2057400"/>
            <a:ext cx="3456432" cy="1920240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2880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B"/>
                </a:solidFill>
                <a:latin typeface="Noto Sans CJK KR"/>
              </a:rPr>
              <a:t>control_success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290779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C"/>
                </a:solidFill>
                <a:latin typeface="Noto Sans CJK KR"/>
              </a:rPr>
              <a:t>각 투구의 제구 성공 확률</a:t>
            </a:r>
            <a:br/>
            <a:r>
              <a:rPr sz="1200" b="0">
                <a:solidFill>
                  <a:srgbClr val="AEB8CC"/>
                </a:solidFill>
                <a:latin typeface="Noto Sans CJK KR"/>
              </a:rPr>
              <a:t>0–1 실수 출력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57400"/>
            <a:ext cx="3456432" cy="1920240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2880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C95D"/>
                </a:solidFill>
                <a:latin typeface="Noto Sans CJK KR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33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B"/>
                </a:solidFill>
                <a:latin typeface="Noto Sans CJK KR"/>
              </a:rPr>
              <a:t>Brier Skill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154680"/>
            <a:ext cx="290779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C"/>
                </a:solidFill>
                <a:latin typeface="Noto Sans CJK KR"/>
              </a:rPr>
              <a:t>확률 오차를 직접 평가</a:t>
            </a:r>
            <a:br/>
            <a:r>
              <a:rPr sz="1200" b="0">
                <a:solidFill>
                  <a:srgbClr val="AEB8CC"/>
                </a:solidFill>
                <a:latin typeface="Noto Sans CJK KR"/>
              </a:rPr>
              <a:t>높을수록 우수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57400"/>
            <a:ext cx="3456432" cy="1920240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286000"/>
            <a:ext cx="2880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A8FE"/>
                </a:solidFill>
                <a:latin typeface="Noto Sans CJK KR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633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B"/>
                </a:solidFill>
                <a:latin typeface="Noto Sans CJK KR"/>
              </a:rPr>
              <a:t>1 pitch = 1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54680"/>
            <a:ext cx="290779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C"/>
                </a:solidFill>
                <a:latin typeface="Noto Sans CJK KR"/>
              </a:rPr>
              <a:t>평가 행별 독립 예측</a:t>
            </a:r>
            <a:br/>
            <a:r>
              <a:rPr sz="1200" b="0">
                <a:solidFill>
                  <a:srgbClr val="AEB8CC"/>
                </a:solidFill>
                <a:latin typeface="Noto Sans CJK KR"/>
              </a:rPr>
              <a:t>다른 test 행 참조 금지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315968"/>
            <a:ext cx="11109960" cy="1572768"/>
          </a:xfrm>
          <a:prstGeom prst="roundRect">
            <a:avLst>
              <a:gd name="adj" fmla="val 12000"/>
            </a:avLst>
          </a:prstGeom>
          <a:solidFill>
            <a:srgbClr val="10182C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5371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Noto Sans CJK KR"/>
              </a:rPr>
              <a:t>설계 원칙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553712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17136"/>
            <a:ext cx="239572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미래 시즌 예측 구조를 반영한 시간 순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4553712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517136"/>
            <a:ext cx="239572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공식 데이터만 사용 · 외부 API/외부 데이터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4553712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4517136"/>
            <a:ext cx="239572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현재 행 + 고정 모델만으로 완결되는 추론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486400"/>
            <a:ext cx="10287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C"/>
                </a:solidFill>
                <a:latin typeface="Noto Sans CJK KR"/>
              </a:rPr>
              <a:t>핵심 질문  |  ‘현재 투구 직전까지 알고 있는 정보만으로, 미래 시즌에서도 확률 품질을 유지할 수 있는가?’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DATA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랜덤 분할 대신 ‘과거 → 미래’로 검증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6072" y="202996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D8C6"/>
                </a:solidFill>
                <a:latin typeface="Noto Sans CJK KR"/>
              </a:rPr>
              <a:t>개발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2019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93392" y="2916936"/>
            <a:ext cx="384048" cy="0"/>
          </a:xfrm>
          <a:prstGeom prst="line">
            <a:avLst/>
          </a:prstGeom>
          <a:ln w="1778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04872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75304" y="2916936"/>
            <a:ext cx="384048" cy="0"/>
          </a:xfrm>
          <a:prstGeom prst="line">
            <a:avLst/>
          </a:prstGeom>
          <a:ln w="1778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86784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4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57216" y="2916936"/>
            <a:ext cx="384048" cy="0"/>
          </a:xfrm>
          <a:prstGeom prst="line">
            <a:avLst/>
          </a:prstGeom>
          <a:ln w="1778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68696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2022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39128" y="2916936"/>
            <a:ext cx="384048" cy="0"/>
          </a:xfrm>
          <a:prstGeom prst="line">
            <a:avLst/>
          </a:prstGeom>
          <a:ln w="1778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50608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2023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2916936"/>
            <a:ext cx="384048" cy="0"/>
          </a:xfrm>
          <a:prstGeom prst="line">
            <a:avLst/>
          </a:prstGeom>
          <a:ln w="1778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32520" y="258775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743200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438144"/>
            <a:ext cx="7498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9D8C6"/>
                </a:solidFill>
                <a:latin typeface="Noto Sans CJK KR"/>
              </a:rPr>
              <a:t>TRAIN  |  1,475,092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383280"/>
            <a:ext cx="117043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VALID</a:t>
            </a:r>
            <a:br/>
            <a:r>
              <a:rPr sz="1100" b="1">
                <a:solidFill>
                  <a:srgbClr val="FF6B6B"/>
                </a:solidFill>
                <a:latin typeface="Noto Sans CJK KR"/>
              </a:rPr>
              <a:t>253,507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6" y="3977639"/>
            <a:ext cx="11009376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6072" y="429768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C95D"/>
                </a:solidFill>
                <a:latin typeface="Noto Sans CJK KR"/>
              </a:rPr>
              <a:t>최종 학습 / 제출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2019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5038344"/>
            <a:ext cx="338328" cy="0"/>
          </a:xfrm>
          <a:prstGeom prst="line">
            <a:avLst/>
          </a:prstGeom>
          <a:ln w="1651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4884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08960" y="5038344"/>
            <a:ext cx="338328" cy="0"/>
          </a:xfrm>
          <a:prstGeom prst="line">
            <a:avLst/>
          </a:prstGeom>
          <a:ln w="1651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7472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2021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34840" y="5038344"/>
            <a:ext cx="338328" cy="0"/>
          </a:xfrm>
          <a:prstGeom prst="line">
            <a:avLst/>
          </a:prstGeom>
          <a:ln w="1651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80060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2022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60720" y="5038344"/>
            <a:ext cx="338328" cy="0"/>
          </a:xfrm>
          <a:prstGeom prst="line">
            <a:avLst/>
          </a:prstGeom>
          <a:ln w="1651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2648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2023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86600" y="5038344"/>
            <a:ext cx="338328" cy="0"/>
          </a:xfrm>
          <a:prstGeom prst="line">
            <a:avLst/>
          </a:prstGeom>
          <a:ln w="1651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452360" y="475488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166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490118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7FB"/>
                </a:solidFill>
                <a:latin typeface="Noto Sans CJK KR"/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4809744"/>
            <a:ext cx="4754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AEB8CC"/>
                </a:solidFill>
                <a:latin typeface="Noto Sans CJK KR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600" y="4645152"/>
            <a:ext cx="1783080" cy="786384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905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4773168"/>
            <a:ext cx="17830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2025</a:t>
            </a:r>
            <a:br/>
            <a:r>
              <a:rPr sz="1300" b="1">
                <a:solidFill>
                  <a:srgbClr val="F4C95D"/>
                </a:solidFill>
                <a:latin typeface="Noto Sans CJK KR"/>
              </a:rPr>
              <a:t>PREDICT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5742432"/>
            <a:ext cx="10945368" cy="43891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5852160"/>
            <a:ext cx="105338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C"/>
                </a:solidFill>
                <a:latin typeface="Noto Sans CJK KR"/>
              </a:rPr>
              <a:t>검증 원칙  |  시즌 변화(drift)를 숨기는 random K-fold를 피하고, 운영 시점과 같은 방향으로 성능을 측정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47개 공식 입력 + 24개 파생 + 2개 집계 + 8개 Trackman 편차 = 81개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029968"/>
            <a:ext cx="2880360" cy="3977639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304288"/>
            <a:ext cx="1005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39D8C6"/>
                </a:solidFill>
                <a:latin typeface="Noto Sans CJK KR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2487168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공식 입력 피처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236976"/>
            <a:ext cx="20574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7FB"/>
                </a:solidFill>
                <a:latin typeface="Noto Sans CJK KR"/>
              </a:rPr>
              <a:t>경기·카운트·점수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2464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21608"/>
            <a:ext cx="20574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7FB"/>
                </a:solidFill>
                <a:latin typeface="Noto Sans CJK KR"/>
              </a:rPr>
              <a:t>주자·상황 중요도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97096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206240"/>
            <a:ext cx="20574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7FB"/>
                </a:solidFill>
                <a:latin typeface="Noto Sans CJK KR"/>
              </a:rPr>
              <a:t>선수·팀·손잡이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90872"/>
            <a:ext cx="20574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7FB"/>
                </a:solidFill>
                <a:latin typeface="Noto Sans CJK KR"/>
              </a:rPr>
              <a:t>공식 asof_* 과거 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474720"/>
            <a:ext cx="457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AEB8CC"/>
                </a:solidFill>
                <a:latin typeface="Noto Sans CJK KR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029968"/>
            <a:ext cx="3218688" cy="3977639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2304288"/>
            <a:ext cx="1005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C95D"/>
                </a:solidFill>
                <a:latin typeface="Noto Sans CJK KR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487168"/>
            <a:ext cx="1691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7FB"/>
                </a:solidFill>
                <a:latin typeface="Noto Sans CJK KR"/>
              </a:rPr>
              <a:t>상태·상호작용 파생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182112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22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3191256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C95D"/>
                </a:solidFill>
                <a:latin typeface="Noto Sans CJK KR"/>
              </a:rPr>
              <a:t>상황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172968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count_state · scoring_pos_runner</a:t>
            </a:r>
            <a:br/>
            <a:r>
              <a:rPr sz="1000" b="1">
                <a:solidFill>
                  <a:srgbClr val="F5F7FB"/>
                </a:solidFill>
                <a:latin typeface="Noto Sans CJK KR"/>
              </a:rPr>
              <a:t>late_inning · leverage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3813048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22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3822191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C95D"/>
                </a:solidFill>
                <a:latin typeface="Noto Sans CJK KR"/>
              </a:rPr>
              <a:t>매치업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803904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좌/우 platoon · batter pressure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8536" y="4443983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22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4453127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C95D"/>
                </a:solidFill>
                <a:latin typeface="Noto Sans CJK KR"/>
              </a:rPr>
              <a:t>추세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4434840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직전 1·3경기 성공률 delta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536" y="507492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22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5084064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C95D"/>
                </a:solidFill>
                <a:latin typeface="Noto Sans CJK KR"/>
              </a:rPr>
              <a:t>Cold-start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5065776"/>
            <a:ext cx="17922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결측 개수 · 결측 여부 · 이력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3474720"/>
            <a:ext cx="457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AEB8CC"/>
                </a:solidFill>
                <a:latin typeface="Noto Sans CJK KR"/>
              </a:rPr>
              <a:t>=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2029968"/>
            <a:ext cx="3749039" cy="3977639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 w="19050">
            <a:solidFill>
              <a:srgbClr val="166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2212848"/>
            <a:ext cx="1627632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39D8C6"/>
                </a:solidFill>
                <a:latin typeface="Noto Sans CJK KR"/>
              </a:rPr>
              <a:t>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56032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8CC"/>
                </a:solidFill>
                <a:latin typeface="Noto Sans CJK KR"/>
              </a:rPr>
              <a:t>FINAL FEATURES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11312" y="3127248"/>
            <a:ext cx="3063240" cy="0"/>
          </a:xfrm>
          <a:prstGeom prst="line">
            <a:avLst/>
          </a:prstGeom>
          <a:ln w="1397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0" y="3447288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3456432"/>
            <a:ext cx="2587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7FB"/>
                </a:solidFill>
                <a:latin typeface="Noto Sans CJK KR"/>
              </a:rPr>
              <a:t>row_id · target 제외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22776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3931920"/>
            <a:ext cx="2587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7FB"/>
                </a:solidFill>
                <a:latin typeface="Noto Sans CJK KR"/>
              </a:rPr>
              <a:t>결측 자체를 정보로 유지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398264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4407408"/>
            <a:ext cx="2587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7FB"/>
                </a:solidFill>
                <a:latin typeface="Noto Sans CJK KR"/>
              </a:rPr>
              <a:t>test 통계·빈도·순위 미사용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87375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4882896"/>
            <a:ext cx="2587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7FB"/>
                </a:solidFill>
                <a:latin typeface="Noto Sans CJK KR"/>
              </a:rPr>
              <a:t>학습·추론 동일 함수/순서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513832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모든 파생값은 해당 행의 입력 컬럼만으로 계산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ASOF 상태·상호작용·조건부 집계를 단일 CatBoost에 결합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423160"/>
            <a:ext cx="1965960" cy="1060704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33472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9D8C6"/>
                </a:solidFill>
                <a:latin typeface="Noto Sans CJK KR"/>
              </a:rPr>
              <a:t>81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965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EB8CC"/>
                </a:solidFill>
                <a:latin typeface="Noto Sans CJK KR"/>
              </a:rPr>
              <a:t>현재 행 단위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2953512"/>
            <a:ext cx="640080" cy="0"/>
          </a:xfrm>
          <a:prstGeom prst="line">
            <a:avLst/>
          </a:prstGeom>
          <a:ln w="2540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82112" y="2487168"/>
            <a:ext cx="0" cy="466344"/>
          </a:xfrm>
          <a:prstGeom prst="line">
            <a:avLst/>
          </a:prstGeom>
          <a:ln w="1905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82112" y="2953512"/>
            <a:ext cx="0" cy="1106424"/>
          </a:xfrm>
          <a:prstGeom prst="line">
            <a:avLst/>
          </a:prstGeom>
          <a:ln w="1905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965960"/>
            <a:ext cx="2231136" cy="1069848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231136"/>
            <a:ext cx="22311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EA8FE"/>
                </a:solidFill>
                <a:latin typeface="Noto Sans CJK KR"/>
              </a:rPr>
              <a:t>ASOF + 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15184"/>
            <a:ext cx="22311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EB8CC"/>
                </a:solidFill>
                <a:latin typeface="Noto Sans CJK KR"/>
              </a:rPr>
              <a:t>73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675887"/>
            <a:ext cx="2231136" cy="1069848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931920"/>
            <a:ext cx="22311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6B6B"/>
                </a:solidFill>
                <a:latin typeface="Noto Sans CJK KR"/>
              </a:rPr>
              <a:t>조건부 집계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15968"/>
            <a:ext cx="22311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EB8CC"/>
                </a:solidFill>
                <a:latin typeface="Noto Sans CJK KR"/>
              </a:rPr>
              <a:t>+ 8 Trackman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2505456"/>
            <a:ext cx="795528" cy="0"/>
          </a:xfrm>
          <a:prstGeom prst="line">
            <a:avLst/>
          </a:prstGeom>
          <a:ln w="20320">
            <a:solidFill>
              <a:srgbClr val="6EA8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4206240"/>
            <a:ext cx="795528" cy="0"/>
          </a:xfrm>
          <a:prstGeom prst="line">
            <a:avLst/>
          </a:prstGeom>
          <a:ln w="2032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19088" y="2084831"/>
            <a:ext cx="1874519" cy="2542032"/>
          </a:xfrm>
          <a:prstGeom prst="roundRect">
            <a:avLst>
              <a:gd name="adj" fmla="val 12000"/>
            </a:avLst>
          </a:prstGeom>
          <a:solidFill>
            <a:srgbClr val="10182C"/>
          </a:solidFill>
          <a:ln w="1778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350008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4C95D"/>
                </a:solidFill>
                <a:latin typeface="Noto Sans CJK KR"/>
              </a:rPr>
              <a:t>feature 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871216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6B6B"/>
                </a:solidFill>
                <a:latin typeface="Noto Sans CJK KR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16936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→ 상태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20" y="3429000"/>
            <a:ext cx="1371600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370332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9D8C6"/>
                </a:solidFill>
                <a:latin typeface="Noto Sans CJK KR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49039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→ 집계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3355848"/>
            <a:ext cx="594360" cy="0"/>
          </a:xfrm>
          <a:prstGeom prst="line">
            <a:avLst/>
          </a:prstGeom>
          <a:ln w="25400">
            <a:solidFill>
              <a:srgbClr val="F4C9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42832" y="2697480"/>
            <a:ext cx="2688336" cy="1325880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 w="20320">
            <a:solidFill>
              <a:srgbClr val="39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990088"/>
            <a:ext cx="26883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9D8C6"/>
                </a:solidFill>
                <a:latin typeface="Noto Sans CJK KR"/>
              </a:rPr>
              <a:t>CatBoost · 300 trees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3438144"/>
            <a:ext cx="26883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EB8CC"/>
                </a:solidFill>
                <a:latin typeface="Noto Sans CJK KR"/>
              </a:rPr>
              <a:t>0 ≤ p ≤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230368"/>
            <a:ext cx="10991088" cy="65836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31536"/>
            <a:ext cx="10561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EB8CC"/>
                </a:solidFill>
                <a:latin typeface="Noto Sans CJK KR"/>
              </a:rPr>
              <a:t>규칙은 검증 전에 고정  ·  연속 가중치 탐색 없음  ·  test 예측 분포를 이용한 선택/보정 없음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TEMPORAL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시간 전이 검증으로 보정식의 재현성을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075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C"/>
                </a:solidFill>
                <a:latin typeface="Noto Sans CJK KR"/>
              </a:rPr>
              <a:t>SUB-002 공식 886.2488171351점  ·  신규 후보 867.3538231619점으로 롤백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2029968"/>
            <a:ext cx="6565392" cy="408736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49424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Brier Skill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267712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높을수록 우수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2" y="5220858"/>
            <a:ext cx="5623560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5120274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-0.004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78992" y="4413260"/>
            <a:ext cx="5623560" cy="0"/>
          </a:xfrm>
          <a:prstGeom prst="line">
            <a:avLst/>
          </a:prstGeom>
          <a:ln w="1524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" y="4312676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0.000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992" y="3605662"/>
            <a:ext cx="5623560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" y="3505078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0.004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78992" y="2798064"/>
            <a:ext cx="5623560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7512" y="2697480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0.008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182532"/>
            <a:ext cx="420624" cy="230727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394960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SUB1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9968" y="3587510"/>
            <a:ext cx="420624" cy="825749"/>
          </a:xfrm>
          <a:prstGeom prst="roundRect">
            <a:avLst>
              <a:gd name="adj" fmla="val 12000"/>
            </a:avLst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5394960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SUB2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4" y="565099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2023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922270"/>
            <a:ext cx="420624" cy="1490989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5394960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EB8CC"/>
                </a:solidFill>
                <a:latin typeface="Noto Sans CJK KR"/>
              </a:rPr>
              <a:t>SUB1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8" y="2880117"/>
            <a:ext cx="420624" cy="1533142"/>
          </a:xfrm>
          <a:prstGeom prst="roundRect">
            <a:avLst>
              <a:gd name="adj" fmla="val 12000"/>
            </a:avLst>
          </a:prstGeom>
          <a:solidFill>
            <a:srgbClr val="39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5394960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SUB2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565099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2024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8352" y="2029968"/>
            <a:ext cx="4242816" cy="4087368"/>
          </a:xfrm>
          <a:prstGeom prst="roundRect">
            <a:avLst>
              <a:gd name="adj" fmla="val 12000"/>
            </a:avLst>
          </a:prstGeom>
          <a:solidFill>
            <a:srgbClr val="10182C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25856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정확한 검증 수치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679192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SEASON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679192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2679192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BRIER 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6728" y="267919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AEB8CC"/>
                </a:solidFill>
                <a:latin typeface="Noto Sans CJK KR"/>
              </a:rPr>
              <a:t>BSS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3090672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3090672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6B6B"/>
                </a:solidFill>
                <a:latin typeface="Noto Sans CJK KR"/>
              </a:rPr>
              <a:t>SUB-001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3090672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0.249714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6728" y="309067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0.001143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62088" y="3566160"/>
            <a:ext cx="3785615" cy="402336"/>
          </a:xfrm>
          <a:prstGeom prst="roundRect">
            <a:avLst>
              <a:gd name="adj" fmla="val 12000"/>
            </a:avLst>
          </a:prstGeom>
          <a:solidFill>
            <a:srgbClr val="14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2" y="3621024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485632" y="3621024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CJK KR"/>
              </a:rPr>
              <a:t>SUB-002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362102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0.248978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6728" y="3621024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0.004090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4151376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4151376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6B6B"/>
                </a:solidFill>
                <a:latin typeface="Noto Sans CJK KR"/>
              </a:rPr>
              <a:t>SUB-001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151376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0.247962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96728" y="4151376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0.007385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62088" y="4626864"/>
            <a:ext cx="3785615" cy="402336"/>
          </a:xfrm>
          <a:prstGeom prst="roundRect">
            <a:avLst>
              <a:gd name="adj" fmla="val 12000"/>
            </a:avLst>
          </a:prstGeom>
          <a:solidFill>
            <a:srgbClr val="14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62672" y="4681727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8485632" y="4681727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CJK KR"/>
              </a:rPr>
              <a:t>SUB-002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8" y="4681727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0.247910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96728" y="4681727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0.007594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26096" y="5404104"/>
            <a:ext cx="3703320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62672" y="5559552"/>
            <a:ext cx="19933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SUB-001 대비 Brier 개선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504688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2023  −0.000737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760720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2024  −0.000052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EXPERIMENT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좋았던 아이디어보다 ‘미래 시즌에 반복된 개선’을 채택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048256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9D8C6"/>
                </a:solidFill>
                <a:latin typeface="Noto Sans CJK KR"/>
              </a:rPr>
              <a:t>채택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32304"/>
            <a:ext cx="5212080" cy="841248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 w="12700">
            <a:solidFill>
              <a:srgbClr val="166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587752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18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96896"/>
            <a:ext cx="10972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FE-001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551176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24개 상태·상호작용 파생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889504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행 독립성 검증 통과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11296"/>
            <a:ext cx="5212080" cy="841248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 w="12700">
            <a:solidFill>
              <a:srgbClr val="166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3666744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18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75887"/>
            <a:ext cx="10972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CatBoost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3630168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범주형 변수의 안정적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3968496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2023·2024에서 강한 단일 모델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5212080" cy="841248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 w="12700">
            <a:solidFill>
              <a:srgbClr val="166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745736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18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754879"/>
            <a:ext cx="10972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COMBO-TM-FULL-006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4709159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B"/>
                </a:solidFill>
                <a:latin typeface="Noto Sans CJK KR"/>
              </a:rPr>
              <a:t>81개 피처 전체 학습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5047488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ZIP·전이·감사 통과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048256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Noto Sans CJK KR"/>
              </a:rPr>
              <a:t>미채택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2432304"/>
            <a:ext cx="5239512" cy="61264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560320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Noto Sans CJK KR"/>
              </a:rPr>
              <a:t>Season weighting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532888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감쇠 0.85/0.70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560320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2024 성능 저하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3236976"/>
            <a:ext cx="5239512" cy="61264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364992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Noto Sans CJK KR"/>
              </a:rPr>
              <a:t>Target aggregates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337560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투수·타자 조건부 통계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364992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2023 개선 미확인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4041648"/>
            <a:ext cx="5239512" cy="61264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169663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Noto Sans CJK KR"/>
              </a:rPr>
              <a:t>Recent blend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142232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전체 75% + 최근 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169663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추가 개선 0.0000028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4846320"/>
            <a:ext cx="5239512" cy="61264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974336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Noto Sans CJK KR"/>
              </a:rPr>
              <a:t>Support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946904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7FB"/>
                </a:solidFill>
                <a:latin typeface="Noto Sans CJK KR"/>
              </a:rPr>
              <a:t>선택적 임계값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974336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전 시즌 일관성 부족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6792" y="5504688"/>
            <a:ext cx="5239512" cy="530352"/>
          </a:xfrm>
          <a:prstGeom prst="roundRect">
            <a:avLst>
              <a:gd name="adj" fmla="val 12000"/>
            </a:avLst>
          </a:prstGeom>
          <a:solidFill>
            <a:srgbClr val="24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5596128"/>
            <a:ext cx="4892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4C95D"/>
                </a:solidFill>
                <a:latin typeface="Noto Sans CJK KR"/>
              </a:rPr>
              <a:t>SUB-002 공식 886.2488171351  |  신규 867.3538231619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5815584"/>
            <a:ext cx="4892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6B6B"/>
                </a:solidFill>
                <a:latin typeface="Noto Sans CJK KR"/>
              </a:rPr>
              <a:t>신규 후보 −18.8949949382  ·  SUB-002 롤백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INFERENCE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평가 데이터의 각 행을 완전히 독립적으로 예측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075688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9D8C6"/>
                </a:solidFill>
                <a:latin typeface="Noto Sans CJK KR"/>
              </a:rPr>
              <a:t>test.csv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551176"/>
            <a:ext cx="2212848" cy="402336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642616"/>
            <a:ext cx="1810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Mono CJK KR"/>
              </a:rPr>
              <a:t>row 01  ·  current inputs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43784" y="2752344"/>
            <a:ext cx="512064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55848" y="2551176"/>
            <a:ext cx="2011680" cy="402336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264261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Mono CJK KR"/>
              </a:rPr>
              <a:t>build_features(row)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76672" y="2752344"/>
            <a:ext cx="493776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70448" y="2551176"/>
            <a:ext cx="1965960" cy="402336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2642616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fixed models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45552" y="2752344"/>
            <a:ext cx="493775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39327" y="2551176"/>
            <a:ext cx="1344168" cy="402336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642616"/>
            <a:ext cx="13441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p1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36392"/>
            <a:ext cx="2212848" cy="402336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227832"/>
            <a:ext cx="1810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Mono CJK KR"/>
              </a:rPr>
              <a:t>row 02  ·  current inputs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43784" y="3337560"/>
            <a:ext cx="512064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55848" y="3136392"/>
            <a:ext cx="2011680" cy="402336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227832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Mono CJK KR"/>
              </a:rPr>
              <a:t>build_features(row)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76672" y="3337560"/>
            <a:ext cx="493776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70448" y="3136392"/>
            <a:ext cx="1965960" cy="402336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3227832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fixed models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45552" y="3337560"/>
            <a:ext cx="493775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39327" y="3136392"/>
            <a:ext cx="1344168" cy="402336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227832"/>
            <a:ext cx="13441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p2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721608"/>
            <a:ext cx="2212848" cy="402336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3813048"/>
            <a:ext cx="1810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Mono CJK KR"/>
              </a:rPr>
              <a:t>row 03  ·  current inputs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43784" y="3922776"/>
            <a:ext cx="512064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355848" y="3721608"/>
            <a:ext cx="2011680" cy="402336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381304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Mono CJK KR"/>
              </a:rPr>
              <a:t>build_features(row)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76672" y="3922776"/>
            <a:ext cx="493776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70448" y="3721608"/>
            <a:ext cx="1965960" cy="402336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3813048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fixed models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45552" y="3922776"/>
            <a:ext cx="493775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339327" y="3721608"/>
            <a:ext cx="1344168" cy="402336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3813048"/>
            <a:ext cx="13441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p3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4306824"/>
            <a:ext cx="2212848" cy="402336"/>
          </a:xfrm>
          <a:prstGeom prst="roundRect">
            <a:avLst>
              <a:gd name="adj" fmla="val 12000"/>
            </a:avLst>
          </a:prstGeom>
          <a:solidFill>
            <a:srgbClr val="1C2640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398264"/>
            <a:ext cx="1810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Mono CJK KR"/>
              </a:rPr>
              <a:t>row 04  ·  current inputs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43784" y="4507992"/>
            <a:ext cx="512064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355848" y="4306824"/>
            <a:ext cx="2011680" cy="402336"/>
          </a:xfrm>
          <a:prstGeom prst="roundRect">
            <a:avLst>
              <a:gd name="adj" fmla="val 12000"/>
            </a:avLst>
          </a:prstGeom>
          <a:solidFill>
            <a:srgbClr val="112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432" y="439826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Mono CJK KR"/>
              </a:rPr>
              <a:t>build_features(row)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76672" y="4507992"/>
            <a:ext cx="493776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870448" y="4306824"/>
            <a:ext cx="1965960" cy="402336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0448" y="4398264"/>
            <a:ext cx="1965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5F7FB"/>
                </a:solidFill>
                <a:latin typeface="Noto Sans CJK KR"/>
              </a:rPr>
              <a:t>fixed models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45552" y="4507992"/>
            <a:ext cx="493775" cy="0"/>
          </a:xfrm>
          <a:prstGeom prst="line">
            <a:avLst/>
          </a:prstGeom>
          <a:ln w="15240">
            <a:solidFill>
              <a:srgbClr val="166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339327" y="4306824"/>
            <a:ext cx="1344168" cy="402336"/>
          </a:xfrm>
          <a:prstGeom prst="roundRect">
            <a:avLst>
              <a:gd name="adj" fmla="val 12000"/>
            </a:avLst>
          </a:prstGeom>
          <a:solidFill>
            <a:srgbClr val="11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398264"/>
            <a:ext cx="13441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p4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85248" y="2377440"/>
            <a:ext cx="1563624" cy="2788920"/>
          </a:xfrm>
          <a:prstGeom prst="roundRect">
            <a:avLst>
              <a:gd name="adj" fmla="val 12000"/>
            </a:avLst>
          </a:prstGeom>
          <a:solidFill>
            <a:srgbClr val="241A25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85248" y="2679192"/>
            <a:ext cx="15636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FF6B6B"/>
                </a:solidFill>
                <a:latin typeface="Noto Sans CJK KR"/>
              </a:rP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68128" y="3310128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15015" y="3319272"/>
            <a:ext cx="9784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test groupby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68128" y="359359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15015" y="3602736"/>
            <a:ext cx="9784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rolling / lag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68128" y="3877056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15015" y="3886200"/>
            <a:ext cx="9784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batch statistics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8128" y="41605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15015" y="4169663"/>
            <a:ext cx="9784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inference fit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8128" y="4443984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Noto Sans CJK KR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5015" y="4453128"/>
            <a:ext cx="9784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5F7FB"/>
                </a:solidFill>
                <a:latin typeface="Noto Sans CJK KR"/>
              </a:rPr>
              <a:t>distribution calibration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2648" y="5285232"/>
            <a:ext cx="9061704" cy="658368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5449824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2144" y="5413248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배치=단독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12848" y="5431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max diff 0.0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67328" y="5449824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78224" y="5413248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순서 변경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38928" y="5431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동일 예측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8" y="5449824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9D8C6"/>
                </a:solidFill>
                <a:latin typeface="Noto Sans CJK K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04304" y="5413248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무관행 추가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65008" y="5431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동일 예측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0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B"/>
                </a:solidFill>
                <a:latin typeface="Noto Sans CJK KR"/>
              </a:rPr>
              <a:t>실행 환경·모델 계약·성능 게이트를 제출물 안에 고정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10160">
            <a:solidFill>
              <a:srgbClr val="2A3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029968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0428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9D8C6"/>
                </a:solidFill>
                <a:latin typeface="Noto Sans CJK KR"/>
              </a:rPr>
              <a:t>1,475,092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06624"/>
            <a:ext cx="20848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전체 학습 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029968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30428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C95D"/>
                </a:solidFill>
                <a:latin typeface="Noto Sans CJK KR"/>
              </a:rPr>
              <a:t>81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706624"/>
            <a:ext cx="20848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모델 피처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29968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30428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6EA8FE"/>
                </a:solidFill>
                <a:latin typeface="Noto Sans CJK KR"/>
              </a:rPr>
              <a:t>8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06624"/>
            <a:ext cx="20848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제출 ZIP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2029968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304288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6B6B"/>
                </a:solidFill>
                <a:latin typeface="Noto Sans CJK KR"/>
              </a:rPr>
              <a:t>AUDIT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706624"/>
            <a:ext cx="20848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CJK KR"/>
              </a:rPr>
              <a:t>내부 감사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56432"/>
            <a:ext cx="5413248" cy="2395728"/>
          </a:xfrm>
          <a:prstGeom prst="roundRect">
            <a:avLst>
              <a:gd name="adj" fmla="val 12000"/>
            </a:avLst>
          </a:prstGeom>
          <a:solidFill>
            <a:srgbClr val="10182C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712463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9D8C6"/>
                </a:solidFill>
                <a:latin typeface="Noto Sans CJK KR"/>
              </a:rPr>
              <a:t>제출 실행 환경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42232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Mono CJK KR"/>
              </a:rPr>
              <a:t>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142232"/>
            <a:ext cx="3502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Python 3.11.15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Mono CJK KR"/>
              </a:rPr>
              <a:t>CatBoost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526280"/>
            <a:ext cx="3502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1.2.10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10328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Mono CJK KR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910328"/>
            <a:ext cx="3502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CatBoost · 300 trees · 81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94376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EB8CC"/>
                </a:solidFill>
                <a:latin typeface="Noto Sans Mono CJK KR"/>
              </a:rP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294376"/>
            <a:ext cx="35021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미사용 · 외부 API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3456432"/>
            <a:ext cx="5394960" cy="2395728"/>
          </a:xfrm>
          <a:prstGeom prst="roundRect">
            <a:avLst>
              <a:gd name="adj" fmla="val 12000"/>
            </a:avLst>
          </a:prstGeom>
          <a:solidFill>
            <a:srgbClr val="10182C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712463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Fail-fast 제출 계약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411480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4123944"/>
            <a:ext cx="434340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7FB"/>
                </a:solidFill>
                <a:latin typeface="Noto Sans CJK KR"/>
              </a:rPr>
              <a:t>입력·피처 개수/순서/ID 계약 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4489704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498848"/>
            <a:ext cx="434340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7FB"/>
                </a:solidFill>
                <a:latin typeface="Noto Sans CJK KR"/>
              </a:rPr>
              <a:t>모델 및 feature_columns SHA-256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4" y="4864608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873752"/>
            <a:ext cx="434340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7FB"/>
                </a:solidFill>
                <a:latin typeface="Noto Sans CJK KR"/>
              </a:rPr>
              <a:t>NaN·Inf·범위 밖 확률 즉시 실패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523951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C95D"/>
                </a:solidFill>
                <a:latin typeface="Noto Sans CJK K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5248656"/>
            <a:ext cx="434340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7FB"/>
                </a:solidFill>
                <a:latin typeface="Noto Sans CJK KR"/>
              </a:rPr>
              <a:t>출력 2개 컬럼 및 입력 row 순서 보존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" y="6071616"/>
            <a:ext cx="11000232" cy="283464"/>
          </a:xfrm>
          <a:prstGeom prst="roundRect">
            <a:avLst>
              <a:gd name="adj" fmla="val 12000"/>
            </a:avLst>
          </a:prstGeom>
          <a:solidFill>
            <a:srgbClr val="1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6117336"/>
            <a:ext cx="106070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9D8C6"/>
                </a:solidFill>
                <a:latin typeface="Noto Sans CJK KR"/>
              </a:rPr>
              <a:t>ZIP 감사: AUDIT_VERIFIED  ·  행 독립성/재현성 검증 통과  ·  공식 점수 확인 전 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" y="41148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1832"/>
            <a:ext cx="74980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5F7FB"/>
                </a:solidFill>
                <a:latin typeface="Noto Sans CJK KR"/>
              </a:rPr>
              <a:t>미래 시즌에도 흔들리지 않는 확률을 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7406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EB8CC"/>
                </a:solidFill>
                <a:latin typeface="Noto Sans CJK KR"/>
              </a:rPr>
              <a:t>복잡도보다 검증 방향, 일관성, 추론 무결성을 우선했습니다.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2468880" cy="144475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32888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TIME-AWARE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208483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EB8CC"/>
                </a:solidFill>
                <a:latin typeface="Noto Sans CJK KR"/>
              </a:rPr>
              <a:t>2019–2023 → 2024</a:t>
            </a:r>
            <a:br/>
            <a:r>
              <a:rPr sz="1100" b="1">
                <a:solidFill>
                  <a:srgbClr val="AEB8CC"/>
                </a:solidFill>
                <a:latin typeface="Noto Sans CJK KR"/>
              </a:rPr>
              <a:t>미래 방향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331720"/>
            <a:ext cx="2468880" cy="144475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54203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2532888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ROW-INDEPENDENT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17520"/>
            <a:ext cx="208483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EB8CC"/>
                </a:solidFill>
                <a:latin typeface="Noto Sans CJK KR"/>
              </a:rPr>
              <a:t>현재 행만으로 생성하는</a:t>
            </a:r>
            <a:br/>
            <a:r>
              <a:rPr sz="1100" b="1">
                <a:solidFill>
                  <a:srgbClr val="AEB8CC"/>
                </a:solidFill>
                <a:latin typeface="Noto Sans CJK KR"/>
              </a:rPr>
              <a:t>상태·상호작용 피처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2331720"/>
            <a:ext cx="2468880" cy="144475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54203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532888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COMBO-TM-FULL-006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017520"/>
            <a:ext cx="208483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EB8CC"/>
                </a:solidFill>
                <a:latin typeface="Noto Sans CJK KR"/>
              </a:rPr>
              <a:t>81개 피처 전체 학습</a:t>
            </a:r>
            <a:br/>
            <a:r>
              <a:rPr sz="1100" b="1">
                <a:solidFill>
                  <a:srgbClr val="AEB8CC"/>
                </a:solidFill>
                <a:latin typeface="Noto Sans CJK KR"/>
              </a:rPr>
              <a:t>Trackman train-only 번들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2331720"/>
            <a:ext cx="2468880" cy="1444752"/>
          </a:xfrm>
          <a:prstGeom prst="roundRect">
            <a:avLst>
              <a:gd name="adj" fmla="val 12000"/>
            </a:avLst>
          </a:prstGeom>
          <a:solidFill>
            <a:srgbClr val="151C31"/>
          </a:solidFill>
          <a:ln w="12700">
            <a:solidFill>
              <a:srgbClr val="2A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3" y="254203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D8C6"/>
                </a:solidFill>
                <a:latin typeface="Noto Sans CJK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532888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F7FB"/>
                </a:solidFill>
                <a:latin typeface="Noto Sans CJK KR"/>
              </a:rPr>
              <a:t>REPRODUCIBLE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3" y="3017520"/>
            <a:ext cx="208483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EB8CC"/>
                </a:solidFill>
                <a:latin typeface="Noto Sans CJK KR"/>
              </a:rPr>
              <a:t>ZIP·행 독립성 검증</a:t>
            </a:r>
            <a:br/>
            <a:r>
              <a:rPr sz="1100" b="1">
                <a:solidFill>
                  <a:srgbClr val="AEB8CC"/>
                </a:solidFill>
                <a:latin typeface="Noto Sans CJK KR"/>
              </a:rPr>
              <a:t>공식 점수 대기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33672"/>
            <a:ext cx="11064240" cy="1554480"/>
          </a:xfrm>
          <a:prstGeom prst="roundRect">
            <a:avLst>
              <a:gd name="adj" fmla="val 12000"/>
            </a:avLst>
          </a:prstGeom>
          <a:solidFill>
            <a:srgbClr val="241A25"/>
          </a:solidFill>
          <a:ln w="2032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562856"/>
            <a:ext cx="6537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7FB"/>
                </a:solidFill>
                <a:latin typeface="Noto Sans CJK KR"/>
              </a:rPr>
              <a:t>오프라인 해커톤(Phase 3) 참가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453128"/>
            <a:ext cx="2523744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6B6B"/>
                </a:solidFill>
                <a:latin typeface="Noto Sans CJK KR"/>
              </a:rPr>
              <a:t>아니요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138928"/>
            <a:ext cx="7543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C"/>
                </a:solidFill>
                <a:latin typeface="Noto Sans CJK KR"/>
              </a:rPr>
              <a:t>본 PPT는 온라인 해커톤(Phase 2) 솔루션 설명 및 코드 검증용 제출 자료입니다. 신규 ZIP은 승인 전 보류합니다.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6144768"/>
            <a:ext cx="20116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9D8C6"/>
                </a:solidFill>
                <a:latin typeface="Noto Sans CJK KR"/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6117336"/>
            <a:ext cx="39684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AEB8CC"/>
                </a:solidFill>
                <a:latin typeface="Noto Sans CJK KR"/>
              </a:rPr>
              <a:t>제출자  김재호   |   팀명  나란차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LG Aimers · 제구 성공 확률 예측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4809A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